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98" r:id="rId5"/>
    <p:sldId id="256" r:id="rId6"/>
    <p:sldId id="296" r:id="rId7"/>
    <p:sldId id="257" r:id="rId8"/>
    <p:sldId id="271" r:id="rId9"/>
    <p:sldId id="282" r:id="rId10"/>
    <p:sldId id="283" r:id="rId11"/>
    <p:sldId id="287" r:id="rId12"/>
    <p:sldId id="288" r:id="rId13"/>
    <p:sldId id="291" r:id="rId14"/>
    <p:sldId id="299" r:id="rId15"/>
    <p:sldId id="300" r:id="rId16"/>
    <p:sldId id="301" r:id="rId17"/>
    <p:sldId id="292" r:id="rId18"/>
    <p:sldId id="304" r:id="rId19"/>
    <p:sldId id="293" r:id="rId20"/>
    <p:sldId id="297" r:id="rId21"/>
    <p:sldId id="305" r:id="rId22"/>
    <p:sldId id="306" r:id="rId23"/>
    <p:sldId id="307" r:id="rId24"/>
    <p:sldId id="308" r:id="rId25"/>
    <p:sldId id="302" r:id="rId26"/>
    <p:sldId id="294" r:id="rId27"/>
    <p:sldId id="3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DA251-4292-4996-8BDF-3BD606981FF4}" v="7" dt="2026-01-12T08:37:56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3447" autoAdjust="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YEMI ADEKUNLE" userId="a483ecd3-f11f-4aa7-9ba3-c9d89436c48d" providerId="ADAL" clId="{5BA6DB01-99ED-4085-8148-7956947A531B}"/>
    <pc:docChg chg="undo custSel modSld sldOrd">
      <pc:chgData name="ADEYEMI ADEKUNLE" userId="a483ecd3-f11f-4aa7-9ba3-c9d89436c48d" providerId="ADAL" clId="{5BA6DB01-99ED-4085-8148-7956947A531B}" dt="2026-01-20T08:43:05.308" v="124" actId="20577"/>
      <pc:docMkLst>
        <pc:docMk/>
      </pc:docMkLst>
      <pc:sldChg chg="modSp mod">
        <pc:chgData name="ADEYEMI ADEKUNLE" userId="a483ecd3-f11f-4aa7-9ba3-c9d89436c48d" providerId="ADAL" clId="{5BA6DB01-99ED-4085-8148-7956947A531B}" dt="2026-01-20T08:43:05.308" v="124" actId="20577"/>
        <pc:sldMkLst>
          <pc:docMk/>
          <pc:sldMk cId="1568904553" sldId="256"/>
        </pc:sldMkLst>
        <pc:graphicFrameChg chg="modGraphic">
          <ac:chgData name="ADEYEMI ADEKUNLE" userId="a483ecd3-f11f-4aa7-9ba3-c9d89436c48d" providerId="ADAL" clId="{5BA6DB01-99ED-4085-8148-7956947A531B}" dt="2026-01-20T08:43:05.308" v="124" actId="20577"/>
          <ac:graphicFrameMkLst>
            <pc:docMk/>
            <pc:sldMk cId="1568904553" sldId="256"/>
            <ac:graphicFrameMk id="7" creationId="{BC676C5A-CF35-FADC-AF79-DDFA9DF79555}"/>
          </ac:graphicFrameMkLst>
        </pc:graphicFrameChg>
      </pc:sldChg>
      <pc:sldChg chg="addSp modSp mod">
        <pc:chgData name="ADEYEMI ADEKUNLE" userId="a483ecd3-f11f-4aa7-9ba3-c9d89436c48d" providerId="ADAL" clId="{5BA6DB01-99ED-4085-8148-7956947A531B}" dt="2026-01-12T08:38:30.357" v="71" actId="20577"/>
        <pc:sldMkLst>
          <pc:docMk/>
          <pc:sldMk cId="2019233975" sldId="257"/>
        </pc:sldMkLst>
        <pc:spChg chg="mod">
          <ac:chgData name="ADEYEMI ADEKUNLE" userId="a483ecd3-f11f-4aa7-9ba3-c9d89436c48d" providerId="ADAL" clId="{5BA6DB01-99ED-4085-8148-7956947A531B}" dt="2026-01-12T08:38:30.357" v="71" actId="20577"/>
          <ac:spMkLst>
            <pc:docMk/>
            <pc:sldMk cId="2019233975" sldId="257"/>
            <ac:spMk id="3" creationId="{DE5046F0-EB5C-D552-4FFE-941607904E16}"/>
          </ac:spMkLst>
        </pc:spChg>
      </pc:sldChg>
      <pc:sldChg chg="modNotesTx">
        <pc:chgData name="ADEYEMI ADEKUNLE" userId="a483ecd3-f11f-4aa7-9ba3-c9d89436c48d" providerId="ADAL" clId="{5BA6DB01-99ED-4085-8148-7956947A531B}" dt="2026-01-20T08:39:32.095" v="104" actId="6549"/>
        <pc:sldMkLst>
          <pc:docMk/>
          <pc:sldMk cId="259460450" sldId="271"/>
        </pc:sldMkLst>
      </pc:sldChg>
      <pc:sldChg chg="modNotesTx">
        <pc:chgData name="ADEYEMI ADEKUNLE" userId="a483ecd3-f11f-4aa7-9ba3-c9d89436c48d" providerId="ADAL" clId="{5BA6DB01-99ED-4085-8148-7956947A531B}" dt="2026-01-20T08:39:38.269" v="105" actId="6549"/>
        <pc:sldMkLst>
          <pc:docMk/>
          <pc:sldMk cId="1262164064" sldId="282"/>
        </pc:sldMkLst>
      </pc:sldChg>
      <pc:sldChg chg="modNotesTx">
        <pc:chgData name="ADEYEMI ADEKUNLE" userId="a483ecd3-f11f-4aa7-9ba3-c9d89436c48d" providerId="ADAL" clId="{5BA6DB01-99ED-4085-8148-7956947A531B}" dt="2026-01-20T08:39:42.257" v="106" actId="6549"/>
        <pc:sldMkLst>
          <pc:docMk/>
          <pc:sldMk cId="4133719791" sldId="283"/>
        </pc:sldMkLst>
      </pc:sldChg>
      <pc:sldChg chg="modNotesTx">
        <pc:chgData name="ADEYEMI ADEKUNLE" userId="a483ecd3-f11f-4aa7-9ba3-c9d89436c48d" providerId="ADAL" clId="{5BA6DB01-99ED-4085-8148-7956947A531B}" dt="2026-01-20T08:39:45.395" v="107" actId="6549"/>
        <pc:sldMkLst>
          <pc:docMk/>
          <pc:sldMk cId="2501861514" sldId="287"/>
        </pc:sldMkLst>
      </pc:sldChg>
      <pc:sldChg chg="modNotesTx">
        <pc:chgData name="ADEYEMI ADEKUNLE" userId="a483ecd3-f11f-4aa7-9ba3-c9d89436c48d" providerId="ADAL" clId="{5BA6DB01-99ED-4085-8148-7956947A531B}" dt="2026-01-20T08:39:49.492" v="108" actId="6549"/>
        <pc:sldMkLst>
          <pc:docMk/>
          <pc:sldMk cId="3323213360" sldId="288"/>
        </pc:sldMkLst>
      </pc:sldChg>
      <pc:sldChg chg="modNotesTx">
        <pc:chgData name="ADEYEMI ADEKUNLE" userId="a483ecd3-f11f-4aa7-9ba3-c9d89436c48d" providerId="ADAL" clId="{5BA6DB01-99ED-4085-8148-7956947A531B}" dt="2026-01-20T08:39:54.023" v="109" actId="6549"/>
        <pc:sldMkLst>
          <pc:docMk/>
          <pc:sldMk cId="549665108" sldId="291"/>
        </pc:sldMkLst>
      </pc:sldChg>
      <pc:sldChg chg="modNotesTx">
        <pc:chgData name="ADEYEMI ADEKUNLE" userId="a483ecd3-f11f-4aa7-9ba3-c9d89436c48d" providerId="ADAL" clId="{5BA6DB01-99ED-4085-8148-7956947A531B}" dt="2026-01-20T08:40:08.467" v="114" actId="6549"/>
        <pc:sldMkLst>
          <pc:docMk/>
          <pc:sldMk cId="3613432782" sldId="292"/>
        </pc:sldMkLst>
      </pc:sldChg>
      <pc:sldChg chg="modNotesTx">
        <pc:chgData name="ADEYEMI ADEKUNLE" userId="a483ecd3-f11f-4aa7-9ba3-c9d89436c48d" providerId="ADAL" clId="{5BA6DB01-99ED-4085-8148-7956947A531B}" dt="2026-01-20T08:40:16.132" v="116" actId="6549"/>
        <pc:sldMkLst>
          <pc:docMk/>
          <pc:sldMk cId="3072855757" sldId="293"/>
        </pc:sldMkLst>
      </pc:sldChg>
      <pc:sldChg chg="ord">
        <pc:chgData name="ADEYEMI ADEKUNLE" userId="a483ecd3-f11f-4aa7-9ba3-c9d89436c48d" providerId="ADAL" clId="{5BA6DB01-99ED-4085-8148-7956947A531B}" dt="2026-01-12T09:48:25.740" v="102"/>
        <pc:sldMkLst>
          <pc:docMk/>
          <pc:sldMk cId="1375198947" sldId="296"/>
        </pc:sldMkLst>
      </pc:sldChg>
      <pc:sldChg chg="modNotesTx">
        <pc:chgData name="ADEYEMI ADEKUNLE" userId="a483ecd3-f11f-4aa7-9ba3-c9d89436c48d" providerId="ADAL" clId="{5BA6DB01-99ED-4085-8148-7956947A531B}" dt="2026-01-20T08:40:20.370" v="117" actId="6549"/>
        <pc:sldMkLst>
          <pc:docMk/>
          <pc:sldMk cId="2962700493" sldId="297"/>
        </pc:sldMkLst>
      </pc:sldChg>
      <pc:sldChg chg="modNotesTx">
        <pc:chgData name="ADEYEMI ADEKUNLE" userId="a483ecd3-f11f-4aa7-9ba3-c9d89436c48d" providerId="ADAL" clId="{5BA6DB01-99ED-4085-8148-7956947A531B}" dt="2026-01-20T08:39:25.362" v="103" actId="6549"/>
        <pc:sldMkLst>
          <pc:docMk/>
          <pc:sldMk cId="3711670051" sldId="298"/>
        </pc:sldMkLst>
      </pc:sldChg>
      <pc:sldChg chg="modNotesTx">
        <pc:chgData name="ADEYEMI ADEKUNLE" userId="a483ecd3-f11f-4aa7-9ba3-c9d89436c48d" providerId="ADAL" clId="{5BA6DB01-99ED-4085-8148-7956947A531B}" dt="2026-01-20T08:39:56.932" v="110" actId="6549"/>
        <pc:sldMkLst>
          <pc:docMk/>
          <pc:sldMk cId="3256894153" sldId="299"/>
        </pc:sldMkLst>
      </pc:sldChg>
      <pc:sldChg chg="modNotesTx">
        <pc:chgData name="ADEYEMI ADEKUNLE" userId="a483ecd3-f11f-4aa7-9ba3-c9d89436c48d" providerId="ADAL" clId="{5BA6DB01-99ED-4085-8148-7956947A531B}" dt="2026-01-20T08:39:59.909" v="111" actId="6549"/>
        <pc:sldMkLst>
          <pc:docMk/>
          <pc:sldMk cId="3671178542" sldId="300"/>
        </pc:sldMkLst>
      </pc:sldChg>
      <pc:sldChg chg="modNotesTx">
        <pc:chgData name="ADEYEMI ADEKUNLE" userId="a483ecd3-f11f-4aa7-9ba3-c9d89436c48d" providerId="ADAL" clId="{5BA6DB01-99ED-4085-8148-7956947A531B}" dt="2026-01-20T08:40:03.926" v="112" actId="6549"/>
        <pc:sldMkLst>
          <pc:docMk/>
          <pc:sldMk cId="398034456" sldId="301"/>
        </pc:sldMkLst>
      </pc:sldChg>
      <pc:sldChg chg="modNotesTx">
        <pc:chgData name="ADEYEMI ADEKUNLE" userId="a483ecd3-f11f-4aa7-9ba3-c9d89436c48d" providerId="ADAL" clId="{5BA6DB01-99ED-4085-8148-7956947A531B}" dt="2026-01-20T08:40:38.524" v="122" actId="6549"/>
        <pc:sldMkLst>
          <pc:docMk/>
          <pc:sldMk cId="3082960257" sldId="302"/>
        </pc:sldMkLst>
      </pc:sldChg>
      <pc:sldChg chg="modNotesTx">
        <pc:chgData name="ADEYEMI ADEKUNLE" userId="a483ecd3-f11f-4aa7-9ba3-c9d89436c48d" providerId="ADAL" clId="{5BA6DB01-99ED-4085-8148-7956947A531B}" dt="2026-01-20T08:40:12.184" v="115" actId="6549"/>
        <pc:sldMkLst>
          <pc:docMk/>
          <pc:sldMk cId="1381766846" sldId="304"/>
        </pc:sldMkLst>
      </pc:sldChg>
      <pc:sldChg chg="modNotesTx">
        <pc:chgData name="ADEYEMI ADEKUNLE" userId="a483ecd3-f11f-4aa7-9ba3-c9d89436c48d" providerId="ADAL" clId="{5BA6DB01-99ED-4085-8148-7956947A531B}" dt="2026-01-20T08:40:24.503" v="118" actId="6549"/>
        <pc:sldMkLst>
          <pc:docMk/>
          <pc:sldMk cId="1255406401" sldId="305"/>
        </pc:sldMkLst>
      </pc:sldChg>
      <pc:sldChg chg="modNotesTx">
        <pc:chgData name="ADEYEMI ADEKUNLE" userId="a483ecd3-f11f-4aa7-9ba3-c9d89436c48d" providerId="ADAL" clId="{5BA6DB01-99ED-4085-8148-7956947A531B}" dt="2026-01-20T08:40:27.450" v="119" actId="6549"/>
        <pc:sldMkLst>
          <pc:docMk/>
          <pc:sldMk cId="4113471360" sldId="306"/>
        </pc:sldMkLst>
      </pc:sldChg>
      <pc:sldChg chg="modNotesTx">
        <pc:chgData name="ADEYEMI ADEKUNLE" userId="a483ecd3-f11f-4aa7-9ba3-c9d89436c48d" providerId="ADAL" clId="{5BA6DB01-99ED-4085-8148-7956947A531B}" dt="2026-01-20T08:40:31.419" v="120" actId="6549"/>
        <pc:sldMkLst>
          <pc:docMk/>
          <pc:sldMk cId="3085317203" sldId="307"/>
        </pc:sldMkLst>
      </pc:sldChg>
      <pc:sldChg chg="modNotesTx">
        <pc:chgData name="ADEYEMI ADEKUNLE" userId="a483ecd3-f11f-4aa7-9ba3-c9d89436c48d" providerId="ADAL" clId="{5BA6DB01-99ED-4085-8148-7956947A531B}" dt="2026-01-20T08:40:34.460" v="121" actId="6549"/>
        <pc:sldMkLst>
          <pc:docMk/>
          <pc:sldMk cId="3059622594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22D74-9C68-4AF2-8C6F-ED674FBEF88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D02BB-373C-41F9-84E2-827AB6E15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6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378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155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169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2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713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30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84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77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386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919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772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539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497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398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846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46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50E1-D574-619B-D398-38144D12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5508B-1ADA-A2D0-40D5-2BC5E07C4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8C4E5-C5CC-8BCC-AFDD-270AFF140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A2506-020D-E3B6-C4E3-72CC787B9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456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75D5-57AC-4FAF-659F-C6A5F80E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2E75A-ED5A-5A1C-587E-37598AC32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2CCD6-0917-4565-629B-40BC94685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E0EA1-E1A6-445B-56B8-DCDFC735F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689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0133-0E64-A4E6-0206-40E9C885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EEA81-29F6-2799-2ACB-175F75C58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7BA2D-A3E5-6A89-F3E8-3A837A1D2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C83D1-8013-B01C-A977-085FF3E3B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607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9D30A-ECC3-7A1E-74DA-FCF2E924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5E9EB-797E-CB36-58C5-E84B7D3FD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D0576-2596-B164-31CE-F2D3CBBE7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E044-F2FA-80F1-BE79-E9E067E5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012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02BB-373C-41F9-84E2-827AB6E1570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14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02F3-7BE2-C536-1018-59B6C2BA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E7A47-ED07-12B9-2E03-AB7A8A99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34D-4956-9C6B-1680-968B1CCE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967B-1FAE-8987-9978-87F89439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EB47-6D30-CE44-BDCD-F27076D1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47AA-3D78-0FD3-4107-DB6BF631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DDD8-EA04-3588-D9FC-C1648652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4E0F-A337-6B6A-9697-5927737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84A92-03DE-C4B6-EF4B-4495DAA6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A988-2AFA-9771-20B4-7827F76C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0E6-12EE-027C-6CA3-F9D10E16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6096-2FB0-E157-8C50-91EC4DCD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EB5B-EF05-F581-D4ED-0EBD8C6E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1FE1-C47A-2809-3114-AFB7166C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19D4-BC8E-6085-5882-8D07E6F5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10AE-C805-A694-7EC3-3AE3410E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F8DB-04DA-43D0-E7BF-249A17608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3F67-856B-B72F-6BA9-5C085B48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45D1C-AB44-77F6-990B-C72E802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1972-0EA1-9EF8-BD40-F7EA8C34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FA98E-E555-BE2A-95C7-6F667E81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0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CD35-BD11-EDF5-7AF6-009A476D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0E33-AF62-00A2-1F0C-7BF84BAF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9042E-DBD8-C406-ED13-8998F29C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A0BB6-74AC-7E86-C8BC-0F651CB0E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BF2DA-BBDE-6123-5B84-DD1EE4611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8BC76-57D4-FD5E-16F2-7A965E12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76F67-DA3D-EE14-30FC-461D73E0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680C2-69AB-6B7A-8FF3-7D3205AB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2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28FD-0AF5-C2EE-C6EA-2588F800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4A18A-A590-3D04-DFF9-4D787BC3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39EC-324C-B6F9-1E5A-68D60C25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3E34C-C28C-6B32-2275-72B27AA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3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43128-AA4B-F08E-2975-E19F5F33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7435A-A261-F1B7-6B91-342AC605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16CA0-AFC2-0879-7667-EAF91845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73F-1B49-D87C-898C-DC7C97B1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1576-A618-4869-8042-257486FB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F5ECE-27AE-E916-CCBA-D23DAD299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79B1A-6FE9-0668-DD36-773B4A1A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854F-49E9-0869-BF7D-5449633E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6E8B-F1F9-9769-2489-9883292B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5C31-BC9D-9974-B3B4-E44BFDE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023AE-A26E-F6E0-A4B7-A251572B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B75D-0CDB-5A90-11FF-684ACEFB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84-8193-4786-E2A2-25AEED8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1144D-9D25-A616-7495-924AAA06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7737B-ACB4-3CF1-4D25-9338402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0BF-3EA5-EAA2-70C6-CE3BE6B2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9D014-B217-8FE0-08EF-DFF166B99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A66F-60A9-3BA2-81AE-632E68A1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2E0AE-7505-DA6B-7885-F18858E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1A5D-F51C-7217-2D75-BD29799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392DB-454A-3308-DF25-C77805D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2A719-BB80-5749-A306-B0ED349B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01D6-0E3E-EAFD-B771-ABE9DCF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1F89-02B2-98A1-617A-65811F3A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7F00-4FC3-5D66-DFC5-C02B1EE0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0DA42-3D84-D776-D4D7-5F87308A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D2E6-B803-7D65-C11B-EE111BDB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0E64-466C-1923-CBCF-43BB3B0C7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259D-0D63-A746-8F45-D559A12D16E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A083-DE9F-5826-6075-627CD5AE2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9197-DC07-188F-62D4-68D8FD6C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yorksj.ac.uk/assessment/coversheet-statement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ksuci.2020.07.010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dss.2014.03.001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D61E7-021D-BCE5-59E3-B24CAE37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9876-E89A-FF2C-1784-EAF1A2B19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1707" y="1655903"/>
            <a:ext cx="7606095" cy="1593924"/>
          </a:xfrm>
        </p:spPr>
        <p:txBody>
          <a:bodyPr>
            <a:noAutofit/>
          </a:bodyPr>
          <a:lstStyle/>
          <a:p>
            <a:r>
              <a:rPr lang="en-GB" sz="3200" b="1" dirty="0"/>
              <a:t>Automated and Adaptive Feature Selection for Enhancing Machine Learning Performance on Large and Diverse Datasets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E57400-0300-9E7B-5ED5-FFE6F9FE5BB9}"/>
              </a:ext>
            </a:extLst>
          </p:cNvPr>
          <p:cNvCxnSpPr/>
          <p:nvPr/>
        </p:nvCxnSpPr>
        <p:spPr>
          <a:xfrm>
            <a:off x="599177" y="3998301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C4C22AEF-98ED-40B7-F401-4F4D0B97CC64}"/>
              </a:ext>
            </a:extLst>
          </p:cNvPr>
          <p:cNvSpPr txBox="1">
            <a:spLocks/>
          </p:cNvSpPr>
          <p:nvPr/>
        </p:nvSpPr>
        <p:spPr>
          <a:xfrm>
            <a:off x="599177" y="4715091"/>
            <a:ext cx="7606095" cy="1593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Name: Adeyemi Adekunle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ID:240254665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Email: adeyemi.adekunle@yorksj.ac.uk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Supervisor Name: Dr Anu Bala</a:t>
            </a:r>
          </a:p>
        </p:txBody>
      </p:sp>
    </p:spTree>
    <p:extLst>
      <p:ext uri="{BB962C8B-B14F-4D97-AF65-F5344CB8AC3E}">
        <p14:creationId xmlns:p14="http://schemas.microsoft.com/office/powerpoint/2010/main" val="37116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9E76B-E4BF-F1F9-CE51-CCB32FC8316A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BC676C5A-CF35-FADC-AF79-DDFA9DF79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632288"/>
              </p:ext>
            </p:extLst>
          </p:nvPr>
        </p:nvGraphicFramePr>
        <p:xfrm>
          <a:off x="747252" y="1965999"/>
          <a:ext cx="9134163" cy="3994454"/>
        </p:xfrm>
        <a:graphic>
          <a:graphicData uri="http://schemas.openxmlformats.org/drawingml/2006/table">
            <a:tbl>
              <a:tblPr firstRow="1" firstCol="1" bandRow="1"/>
              <a:tblGrid>
                <a:gridCol w="4244136">
                  <a:extLst>
                    <a:ext uri="{9D8B030D-6E8A-4147-A177-3AD203B41FA5}">
                      <a16:colId xmlns:a16="http://schemas.microsoft.com/office/drawing/2014/main" val="67251598"/>
                    </a:ext>
                  </a:extLst>
                </a:gridCol>
                <a:gridCol w="4890027">
                  <a:extLst>
                    <a:ext uri="{9D8B030D-6E8A-4147-A177-3AD203B41FA5}">
                      <a16:colId xmlns:a16="http://schemas.microsoft.com/office/drawing/2014/main" val="3533018794"/>
                    </a:ext>
                  </a:extLst>
                </a:gridCol>
              </a:tblGrid>
              <a:tr h="753195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en-GB" sz="1800" b="1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The Coversheet</a:t>
                      </a:r>
                      <a:endParaRPr lang="en-GB" sz="1800" b="1" kern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019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 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(unless anonymised) 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Adeyemi Adekunle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09896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Number 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(as shown on student ID card):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240254665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55742"/>
                  </a:ext>
                </a:extLst>
              </a:tr>
              <a:tr h="3962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Word Count / Pages / Duration / Other Limits: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6432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component number (1,2 or 3)</a:t>
                      </a: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80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18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6846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type</a:t>
                      </a: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47218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Attempt Number: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147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 of Submission: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28 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January 2026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10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81EE-3885-D2D3-457D-283BB862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AE869-FA86-043C-2AA4-0DBE80E44528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8EC5FF-0A7E-52D8-D081-D4B9EDEAE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1028460"/>
              </p:ext>
            </p:extLst>
          </p:nvPr>
        </p:nvGraphicFramePr>
        <p:xfrm>
          <a:off x="854012" y="2273412"/>
          <a:ext cx="9007741" cy="1155587"/>
        </p:xfrm>
        <a:graphic>
          <a:graphicData uri="http://schemas.openxmlformats.org/drawingml/2006/table">
            <a:tbl>
              <a:tblPr firstRow="1" firstCol="1" bandRow="1"/>
              <a:tblGrid>
                <a:gridCol w="7218382">
                  <a:extLst>
                    <a:ext uri="{9D8B030D-6E8A-4147-A177-3AD203B41FA5}">
                      <a16:colId xmlns:a16="http://schemas.microsoft.com/office/drawing/2014/main" val="787756284"/>
                    </a:ext>
                  </a:extLst>
                </a:gridCol>
                <a:gridCol w="1789359">
                  <a:extLst>
                    <a:ext uri="{9D8B030D-6E8A-4147-A177-3AD203B41FA5}">
                      <a16:colId xmlns:a16="http://schemas.microsoft.com/office/drawing/2014/main" val="2451618896"/>
                    </a:ext>
                  </a:extLst>
                </a:gridCol>
              </a:tblGrid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 dirty="0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Academic Misconduct statement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 dirty="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68068"/>
                  </a:ext>
                </a:extLst>
              </a:tr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Generative Artificial Intelligence use statement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11619"/>
                  </a:ext>
                </a:extLst>
              </a:tr>
              <a:tr h="58888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I am satisfied that I have met the Learning Outcomes of this assignment 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(please check the Assignment Brief if you are unsure)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​​​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91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FF83F-571B-9B48-D9E3-A4DB9971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62977"/>
              </p:ext>
            </p:extLst>
          </p:nvPr>
        </p:nvGraphicFramePr>
        <p:xfrm>
          <a:off x="854012" y="3629966"/>
          <a:ext cx="9007739" cy="2310713"/>
        </p:xfrm>
        <a:graphic>
          <a:graphicData uri="http://schemas.openxmlformats.org/drawingml/2006/table">
            <a:tbl>
              <a:tblPr firstRow="1" firstCol="1" bandRow="1"/>
              <a:tblGrid>
                <a:gridCol w="9007739">
                  <a:extLst>
                    <a:ext uri="{9D8B030D-6E8A-4147-A177-3AD203B41FA5}">
                      <a16:colId xmlns:a16="http://schemas.microsoft.com/office/drawing/2014/main" val="609738656"/>
                    </a:ext>
                  </a:extLst>
                </a:gridCol>
              </a:tblGrid>
              <a:tr h="69126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Self-Assessment</a:t>
                      </a: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 – If there are particular aspects of your assignment on which you would like feedback, please indicate below.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Optional for students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75"/>
                  </a:ext>
                </a:extLst>
              </a:tr>
              <a:tr h="1162821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Suggested prompt questions-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How have you developed or progressed your learning in this work?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do you feel is the strongest part of this submission?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feedback would you give yourself?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part(s) of this assignment are you still unsure about?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9793"/>
                  </a:ext>
                </a:extLst>
              </a:tr>
              <a:tr h="456627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0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19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Table of Content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690689"/>
            <a:ext cx="11550079" cy="4802186"/>
          </a:xfrm>
        </p:spPr>
        <p:txBody>
          <a:bodyPr>
            <a:normAutofit fontScale="40000" lnSpcReduction="20000"/>
          </a:bodyPr>
          <a:lstStyle/>
          <a:p>
            <a:r>
              <a:rPr lang="en-GB" dirty="0"/>
              <a:t>Introduction (The Problem)</a:t>
            </a:r>
          </a:p>
          <a:p>
            <a:r>
              <a:rPr lang="en-GB" dirty="0"/>
              <a:t>Aim, Objectives, Research Questions &amp; Hypothesis</a:t>
            </a:r>
          </a:p>
          <a:p>
            <a:r>
              <a:rPr lang="en-GB" dirty="0"/>
              <a:t>What is Feature Selection?</a:t>
            </a:r>
          </a:p>
          <a:p>
            <a:r>
              <a:rPr lang="en-GB" dirty="0"/>
              <a:t>Literature Review &amp; Research Gap</a:t>
            </a:r>
          </a:p>
          <a:p>
            <a:r>
              <a:rPr lang="en-GB" dirty="0"/>
              <a:t>Proposed Contribution</a:t>
            </a:r>
          </a:p>
          <a:p>
            <a:r>
              <a:rPr lang="en-GB" dirty="0"/>
              <a:t>Framework Architecture</a:t>
            </a:r>
          </a:p>
          <a:p>
            <a:r>
              <a:rPr lang="en-GB" dirty="0"/>
              <a:t>Datasets Overview</a:t>
            </a:r>
          </a:p>
          <a:p>
            <a:r>
              <a:rPr lang="en-GB" dirty="0"/>
              <a:t>Preprocessing Pipeline</a:t>
            </a:r>
          </a:p>
          <a:p>
            <a:r>
              <a:rPr lang="en-GB" dirty="0"/>
              <a:t>Dataset Profiling (Meta-Features)</a:t>
            </a:r>
          </a:p>
          <a:p>
            <a:r>
              <a:rPr lang="en-GB" dirty="0"/>
              <a:t>Heuristic Rules</a:t>
            </a:r>
          </a:p>
          <a:p>
            <a:r>
              <a:rPr lang="en-GB" dirty="0"/>
              <a:t>Experimental Setup</a:t>
            </a:r>
          </a:p>
          <a:p>
            <a:r>
              <a:rPr lang="en-GB" dirty="0"/>
              <a:t>Evaluation Metrics &amp; Statistical Testing</a:t>
            </a:r>
          </a:p>
          <a:p>
            <a:r>
              <a:rPr lang="en-GB" dirty="0"/>
              <a:t>Results: Predictive Performance</a:t>
            </a:r>
          </a:p>
          <a:p>
            <a:r>
              <a:rPr lang="en-GB" dirty="0"/>
              <a:t>Results: Runtime &amp; Stability</a:t>
            </a:r>
          </a:p>
          <a:p>
            <a:r>
              <a:rPr lang="en-GB" dirty="0"/>
              <a:t>Discussion</a:t>
            </a:r>
          </a:p>
          <a:p>
            <a:r>
              <a:rPr lang="en-GB" dirty="0"/>
              <a:t>Conclusion</a:t>
            </a:r>
          </a:p>
          <a:p>
            <a:r>
              <a:rPr lang="en-GB" dirty="0"/>
              <a:t>Recommendations &amp; Future Work </a:t>
            </a:r>
          </a:p>
          <a:p>
            <a:r>
              <a:rPr lang="en-GB" dirty="0"/>
              <a:t>Executive Summary</a:t>
            </a:r>
          </a:p>
          <a:p>
            <a:r>
              <a:rPr lang="en-GB" dirty="0"/>
              <a:t>References &amp; Q&amp;A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3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ysClr val="windowText" lastClr="000000"/>
                </a:solidFill>
              </a:rPr>
              <a:t>Introduction (The 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Key point: </a:t>
            </a:r>
            <a:r>
              <a:rPr lang="en-US" altLang="en-US" dirty="0"/>
              <a:t>Modern datasets can be high-dimensional, noisy, and inconsistent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Manual feature selection is slow and inconsistent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One FS method does not work best on every dataset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Wrong FS choice can reduce accuracy, increase runtime, and reduce stability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9DEF2-6BF1-73BB-357A-1B65F24E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462-637C-20E8-F48A-8F959960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spc="300" dirty="0"/>
              <a:t>Ai</a:t>
            </a:r>
            <a:r>
              <a:rPr lang="en-US" sz="3600" b="1" dirty="0"/>
              <a:t>m, Objectives, Research Questions + Hypothesis</a:t>
            </a:r>
            <a:endParaRPr lang="en-US" sz="3600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4D53C-1E30-DFF7-BF6F-03B6A02DFD0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EAA370-DE25-873F-6D26-45D554BAF907}"/>
              </a:ext>
            </a:extLst>
          </p:cNvPr>
          <p:cNvSpPr txBox="1"/>
          <p:nvPr/>
        </p:nvSpPr>
        <p:spPr>
          <a:xfrm>
            <a:off x="5688227" y="1796011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b="1" dirty="0"/>
              <a:t>Research Questions: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Which dataset characteristics suggest FS is beneficial?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Does heuristic FS improve performance vs No-FS?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What trade-offs appear (accuracy vs runtime vs stability)?</a:t>
            </a:r>
          </a:p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Hypotheses:</a:t>
            </a:r>
            <a:endParaRPr lang="en-GB" sz="2200" dirty="0"/>
          </a:p>
          <a:p>
            <a:pPr marL="0" indent="0">
              <a:buNone/>
            </a:pPr>
            <a:r>
              <a:rPr lang="en-GB" sz="2200" b="1" dirty="0"/>
              <a:t>  H₀:</a:t>
            </a:r>
            <a:r>
              <a:rPr lang="en-GB" sz="2200" dirty="0"/>
              <a:t> Heuristic-FS does not significantly  improve performance/efficiency vs No-FS</a:t>
            </a:r>
          </a:p>
          <a:p>
            <a:pPr marL="0" indent="0">
              <a:buNone/>
            </a:pPr>
            <a:r>
              <a:rPr lang="en-GB" sz="2200" b="1" dirty="0"/>
              <a:t>  H₁:</a:t>
            </a:r>
            <a:r>
              <a:rPr lang="en-GB" sz="2200" dirty="0"/>
              <a:t> Heuristic-FS improves performance and/or efficiency vs No-FS on some datasets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BC7D7-6EB3-1A0E-E3CC-2D31E6D5E537}"/>
              </a:ext>
            </a:extLst>
          </p:cNvPr>
          <p:cNvSpPr txBox="1"/>
          <p:nvPr/>
        </p:nvSpPr>
        <p:spPr>
          <a:xfrm>
            <a:off x="525162" y="1959739"/>
            <a:ext cx="47453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/>
              <a:t>Aim:</a:t>
            </a:r>
            <a:r>
              <a:rPr lang="en-GB" sz="2400" dirty="0"/>
              <a:t> </a:t>
            </a:r>
          </a:p>
          <a:p>
            <a:pPr marL="0" indent="0">
              <a:buNone/>
            </a:pPr>
            <a:r>
              <a:rPr lang="en-GB" sz="2400" dirty="0"/>
              <a:t>Build and evaluate an explainable heuristic-adaptive FS framework.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Objectives:</a:t>
            </a:r>
            <a:endParaRPr lang="en-GB" sz="2400" dirty="0"/>
          </a:p>
          <a:p>
            <a:r>
              <a:rPr lang="en-GB" sz="2400" dirty="0"/>
              <a:t>Use dataset meta-features to select FS family + feature count</a:t>
            </a:r>
          </a:p>
          <a:p>
            <a:r>
              <a:rPr lang="en-GB" sz="2400" dirty="0"/>
              <a:t>Compare </a:t>
            </a:r>
            <a:r>
              <a:rPr lang="en-GB" sz="2400" b="1" dirty="0"/>
              <a:t>No-FS vs Heuristic-FS</a:t>
            </a:r>
            <a:r>
              <a:rPr lang="en-GB" sz="2400" dirty="0"/>
              <a:t> across datasets and models</a:t>
            </a:r>
          </a:p>
          <a:p>
            <a:r>
              <a:rPr lang="en-GB" sz="2400" dirty="0"/>
              <a:t>Evaluate with </a:t>
            </a:r>
            <a:r>
              <a:rPr lang="en-GB" sz="2400" b="1" dirty="0"/>
              <a:t>performance + runtime + stability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6216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0F72-C90E-A834-065C-01A3AA0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68EF-9454-2291-92F2-EAE09FA4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What is Feature Selection(FS)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6C6F-012C-A3C6-67E7-7C110DC3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Feature selection reduces the feature set to keep the most informative variables.</a:t>
            </a:r>
          </a:p>
          <a:p>
            <a:pPr marL="0" indent="0">
              <a:buNone/>
            </a:pPr>
            <a:r>
              <a:rPr lang="en-GB" b="1" dirty="0"/>
              <a:t>Why it matters:</a:t>
            </a:r>
            <a:endParaRPr lang="en-GB" dirty="0"/>
          </a:p>
          <a:p>
            <a:pPr lvl="1"/>
            <a:r>
              <a:rPr lang="en-GB" dirty="0"/>
              <a:t>Reduces noise and redundancy</a:t>
            </a:r>
          </a:p>
          <a:p>
            <a:pPr lvl="1"/>
            <a:r>
              <a:rPr lang="en-GB" dirty="0"/>
              <a:t>Speeds up training + inference</a:t>
            </a:r>
          </a:p>
          <a:p>
            <a:pPr lvl="1"/>
            <a:r>
              <a:rPr lang="en-GB" dirty="0"/>
              <a:t>Helps reduce overfitting</a:t>
            </a:r>
          </a:p>
          <a:p>
            <a:pPr lvl="1"/>
            <a:r>
              <a:rPr lang="en-GB" dirty="0"/>
              <a:t>Improves interpretability</a:t>
            </a:r>
          </a:p>
          <a:p>
            <a:pPr marL="0" indent="0">
              <a:buNone/>
            </a:pPr>
            <a:r>
              <a:rPr lang="en-GB" b="1" dirty="0"/>
              <a:t>FS families:</a:t>
            </a:r>
            <a:endParaRPr lang="en-GB" dirty="0"/>
          </a:p>
          <a:p>
            <a:pPr lvl="1"/>
            <a:r>
              <a:rPr lang="en-GB" b="1" dirty="0"/>
              <a:t>Filter:</a:t>
            </a:r>
            <a:r>
              <a:rPr lang="en-GB" dirty="0"/>
              <a:t> fast, model-agnostic (e.g., ANOVA, mutual information)</a:t>
            </a:r>
          </a:p>
          <a:p>
            <a:pPr lvl="1"/>
            <a:r>
              <a:rPr lang="en-GB" b="1" dirty="0"/>
              <a:t>Wrapper:</a:t>
            </a:r>
            <a:r>
              <a:rPr lang="en-GB" dirty="0"/>
              <a:t> searches subsets, often accurate but expensive (e.g., RFE)</a:t>
            </a:r>
          </a:p>
          <a:p>
            <a:pPr lvl="1"/>
            <a:r>
              <a:rPr lang="en-GB" b="1" dirty="0"/>
              <a:t>Embedded:</a:t>
            </a:r>
            <a:r>
              <a:rPr lang="en-GB" dirty="0"/>
              <a:t> selection happens inside learning (e.g., L1 regularisation)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92AD6E-01A5-CDB0-CFF1-2F767DCB5F2C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1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C956-B357-3404-8FF8-832D0B29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B35E-E0C9-DA42-9298-79FF399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spc="300" dirty="0"/>
              <a:t>Li</a:t>
            </a:r>
            <a:r>
              <a:rPr lang="en-GB" b="1" dirty="0"/>
              <a:t>terature + Gap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A5EF-14F5-FE16-BBDC-6F260901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4"/>
            <a:ext cx="10943589" cy="4575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research has shown:</a:t>
            </a:r>
            <a:endParaRPr lang="en-US" sz="2400" dirty="0"/>
          </a:p>
          <a:p>
            <a:pPr lvl="1"/>
            <a:r>
              <a:rPr lang="en-US" dirty="0"/>
              <a:t>FS can improve generalisation and efficiency, but results depend on dataset properties</a:t>
            </a:r>
          </a:p>
          <a:p>
            <a:pPr lvl="1"/>
            <a:r>
              <a:rPr lang="en-US" dirty="0"/>
              <a:t>No single FS method dominates across all problems (No Free Lunch idea)</a:t>
            </a:r>
          </a:p>
          <a:p>
            <a:pPr lvl="1"/>
            <a:r>
              <a:rPr lang="en-US" dirty="0"/>
              <a:t>Heavy adaptive approaches exist (</a:t>
            </a:r>
            <a:r>
              <a:rPr lang="en-US" dirty="0" err="1"/>
              <a:t>AutoML</a:t>
            </a:r>
            <a:r>
              <a:rPr lang="en-US" dirty="0"/>
              <a:t>/meta-learning/RL), but they’re costly and less transparent</a:t>
            </a:r>
          </a:p>
          <a:p>
            <a:pPr marL="0" indent="0">
              <a:buNone/>
            </a:pPr>
            <a:r>
              <a:rPr lang="en-US" sz="2400" b="1" dirty="0"/>
              <a:t>Gap:</a:t>
            </a:r>
            <a:endParaRPr lang="en-US" sz="2400" dirty="0"/>
          </a:p>
          <a:p>
            <a:pPr lvl="1"/>
            <a:r>
              <a:rPr lang="en-US" dirty="0"/>
              <a:t>Need for a </a:t>
            </a:r>
            <a:r>
              <a:rPr lang="en-US" b="1" dirty="0"/>
              <a:t>lightweight + explainable + practical</a:t>
            </a:r>
            <a:r>
              <a:rPr lang="en-US" dirty="0"/>
              <a:t> adaptive FS approach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D74407-24A9-EC3F-1DC3-D27B2A7C3D2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86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D7089-539B-F1E4-1113-EA5BC9CA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92C5-107F-6235-7105-D007948E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Contribution (What I am building)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B8CB8-E5B6-DD68-AD97-8FBFE234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 </a:t>
            </a:r>
            <a:r>
              <a:rPr lang="en-GB" sz="2400" b="1" dirty="0"/>
              <a:t>Heuristic Decision Engine</a:t>
            </a:r>
            <a:r>
              <a:rPr lang="en-GB" sz="2400" dirty="0"/>
              <a:t> that:</a:t>
            </a:r>
          </a:p>
          <a:p>
            <a:pPr lvl="1"/>
            <a:r>
              <a:rPr lang="en-GB" dirty="0"/>
              <a:t>Profiles dataset meta-features: </a:t>
            </a:r>
            <a:r>
              <a:rPr lang="en-GB" b="1" dirty="0"/>
              <a:t>p/n, correlation, sparsity, imbalance, variance.</a:t>
            </a:r>
            <a:endParaRPr lang="en-GB" dirty="0"/>
          </a:p>
          <a:p>
            <a:pPr lvl="1"/>
            <a:r>
              <a:rPr lang="en-GB" dirty="0"/>
              <a:t>Select an FS family: </a:t>
            </a:r>
            <a:r>
              <a:rPr lang="en-GB" b="1" dirty="0"/>
              <a:t>filter/wrapper / embedded.</a:t>
            </a:r>
            <a:endParaRPr lang="en-GB" dirty="0"/>
          </a:p>
          <a:p>
            <a:pPr lvl="1"/>
            <a:r>
              <a:rPr lang="en-US" dirty="0"/>
              <a:t>Chooses a sensible feature count </a:t>
            </a:r>
            <a:r>
              <a:rPr lang="en-US" b="1" dirty="0"/>
              <a:t>k</a:t>
            </a:r>
            <a:r>
              <a:rPr lang="en-US" dirty="0"/>
              <a:t> (bounded by dataset size/dimensionality</a:t>
            </a:r>
            <a:endParaRPr lang="en-GB" dirty="0"/>
          </a:p>
          <a:p>
            <a:pPr lvl="1"/>
            <a:r>
              <a:rPr lang="en-GB" dirty="0"/>
              <a:t>Evaluates impact using consistent models + metrics.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DD2137-4FFF-A1DE-B4C6-7E0B2CB064B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21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1D47C-3CC6-20F5-3094-E96D00C1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0C99-3CF7-FBBF-0948-517B19BD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spc="300" dirty="0"/>
              <a:t>Fr</a:t>
            </a:r>
            <a:r>
              <a:rPr lang="en-US" b="1" dirty="0"/>
              <a:t>a</a:t>
            </a:r>
            <a:r>
              <a:rPr lang="en-US" b="1" spc="300" dirty="0"/>
              <a:t>m</a:t>
            </a:r>
            <a:r>
              <a:rPr lang="en-US" b="1" dirty="0"/>
              <a:t>ework </a:t>
            </a:r>
            <a:r>
              <a:rPr lang="en-US" b="1" spc="300" dirty="0"/>
              <a:t>Ar</a:t>
            </a:r>
            <a:r>
              <a:rPr lang="en-US" b="1" dirty="0"/>
              <a:t>chitecture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2F0B4-3898-2545-B419-6B19D8147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4751173" cy="466725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Workflow: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Dataset input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Preprocessing pipeline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Dataset profiling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Decision rules (heuristics)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Apply selected FS method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Train models + evaluate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Results: metrics + stability + stats + interpretability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CCB68-991B-2F54-F71F-4C6E1A395E6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0226A66A-4DB0-31C5-E1CE-49A9B024B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509" y="2010349"/>
            <a:ext cx="6318662" cy="360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6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F0A96-AC3D-FF74-CD71-4C702447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9AB9-9BD3-E70E-C717-07432932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spc="300" dirty="0"/>
              <a:t>D</a:t>
            </a:r>
            <a:r>
              <a:rPr lang="en-US" b="1" dirty="0"/>
              <a:t>atasets Overview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1DF77-17E7-3402-FCBD-ACEDF157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3506573" cy="4667250"/>
          </a:xfrm>
        </p:spPr>
        <p:txBody>
          <a:bodyPr>
            <a:normAutofit/>
          </a:bodyPr>
          <a:lstStyle/>
          <a:p>
            <a:pPr lvl="0" fontAlgn="base">
              <a:spcAft>
                <a:spcPts val="600"/>
              </a:spcAft>
            </a:pPr>
            <a:r>
              <a:rPr lang="en-US" altLang="en-US" sz="1900" b="1" dirty="0"/>
              <a:t>The Datasets:</a:t>
            </a:r>
          </a:p>
          <a:p>
            <a:pPr marL="0" lvl="1" fontAlgn="base">
              <a:spcBef>
                <a:spcPts val="1000"/>
              </a:spcBef>
              <a:spcAft>
                <a:spcPts val="600"/>
              </a:spcAft>
            </a:pPr>
            <a:r>
              <a:rPr lang="en-US" altLang="en-US" sz="1900" dirty="0"/>
              <a:t>Bank Marketing — finance, mixed categorical/numeric, imbalance</a:t>
            </a:r>
          </a:p>
          <a:p>
            <a:pPr marL="0" lvl="1" fontAlgn="base">
              <a:spcBef>
                <a:spcPts val="1000"/>
              </a:spcBef>
              <a:spcAft>
                <a:spcPts val="600"/>
              </a:spcAft>
            </a:pPr>
            <a:r>
              <a:rPr lang="en-US" altLang="en-US" sz="1900" dirty="0"/>
              <a:t>Breast Cancer Wisconsin (Diagnostic) — healthcare, low-dimensional numeric</a:t>
            </a:r>
          </a:p>
          <a:p>
            <a:pPr marL="0" lvl="1" fontAlgn="base">
              <a:spcBef>
                <a:spcPts val="1000"/>
              </a:spcBef>
              <a:spcAft>
                <a:spcPts val="600"/>
              </a:spcAft>
            </a:pPr>
            <a:r>
              <a:rPr lang="en-US" altLang="en-US" sz="1900" dirty="0"/>
              <a:t>CIFAR-10 (tabular subset of pixels) — vision, high-dimensional (3,072 features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06A13-0E0D-80BA-4B12-47B7354E43D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2">
            <a:extLst>
              <a:ext uri="{FF2B5EF4-FFF2-40B4-BE49-F238E27FC236}">
                <a16:creationId xmlns:a16="http://schemas.microsoft.com/office/drawing/2014/main" id="{C906C4DC-7349-7696-52D2-034151AD7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753882"/>
              </p:ext>
            </p:extLst>
          </p:nvPr>
        </p:nvGraphicFramePr>
        <p:xfrm>
          <a:off x="3937000" y="1994937"/>
          <a:ext cx="6749143" cy="3446107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786017">
                  <a:extLst>
                    <a:ext uri="{9D8B030D-6E8A-4147-A177-3AD203B41FA5}">
                      <a16:colId xmlns:a16="http://schemas.microsoft.com/office/drawing/2014/main" val="4045178512"/>
                    </a:ext>
                  </a:extLst>
                </a:gridCol>
                <a:gridCol w="961740">
                  <a:extLst>
                    <a:ext uri="{9D8B030D-6E8A-4147-A177-3AD203B41FA5}">
                      <a16:colId xmlns:a16="http://schemas.microsoft.com/office/drawing/2014/main" val="4048932783"/>
                    </a:ext>
                  </a:extLst>
                </a:gridCol>
                <a:gridCol w="816959">
                  <a:extLst>
                    <a:ext uri="{9D8B030D-6E8A-4147-A177-3AD203B41FA5}">
                      <a16:colId xmlns:a16="http://schemas.microsoft.com/office/drawing/2014/main" val="2756561429"/>
                    </a:ext>
                  </a:extLst>
                </a:gridCol>
                <a:gridCol w="824681">
                  <a:extLst>
                    <a:ext uri="{9D8B030D-6E8A-4147-A177-3AD203B41FA5}">
                      <a16:colId xmlns:a16="http://schemas.microsoft.com/office/drawing/2014/main" val="2284668697"/>
                    </a:ext>
                  </a:extLst>
                </a:gridCol>
                <a:gridCol w="766769">
                  <a:extLst>
                    <a:ext uri="{9D8B030D-6E8A-4147-A177-3AD203B41FA5}">
                      <a16:colId xmlns:a16="http://schemas.microsoft.com/office/drawing/2014/main" val="3352216341"/>
                    </a:ext>
                  </a:extLst>
                </a:gridCol>
                <a:gridCol w="1592977">
                  <a:extLst>
                    <a:ext uri="{9D8B030D-6E8A-4147-A177-3AD203B41FA5}">
                      <a16:colId xmlns:a16="http://schemas.microsoft.com/office/drawing/2014/main" val="2287669981"/>
                    </a:ext>
                  </a:extLst>
                </a:gridCol>
              </a:tblGrid>
              <a:tr h="5004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Dataset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Domain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Samples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Features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Classes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Citation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extLst>
                  <a:ext uri="{0D108BD9-81ED-4DB2-BD59-A6C34878D82A}">
                    <a16:rowId xmlns:a16="http://schemas.microsoft.com/office/drawing/2014/main" val="690451698"/>
                  </a:ext>
                </a:extLst>
              </a:tr>
              <a:tr h="9818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Bank Marketing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Finance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45,211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16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2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Moro, Cortez and Rita (2014)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extLst>
                  <a:ext uri="{0D108BD9-81ED-4DB2-BD59-A6C34878D82A}">
                    <a16:rowId xmlns:a16="http://schemas.microsoft.com/office/drawing/2014/main" val="2923246043"/>
                  </a:ext>
                </a:extLst>
              </a:tr>
              <a:tr h="9818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Breast Cancer Wisconsin (Diagnostic)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Healthcare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569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30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2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Street, Wolberg and Mangasarian (1993)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extLst>
                  <a:ext uri="{0D108BD9-81ED-4DB2-BD59-A6C34878D82A}">
                    <a16:rowId xmlns:a16="http://schemas.microsoft.com/office/drawing/2014/main" val="424221479"/>
                  </a:ext>
                </a:extLst>
              </a:tr>
              <a:tr h="9818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CIFAR-10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Computer Vision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60,000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3,072*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10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GB" sz="1400" dirty="0" err="1">
                          <a:effectLst/>
                        </a:rPr>
                        <a:t>Krizhevsky</a:t>
                      </a:r>
                      <a:r>
                        <a:rPr lang="en-GB" sz="1400" dirty="0">
                          <a:effectLst/>
                        </a:rPr>
                        <a:t> (2009)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149" marR="46149" marT="0" marB="0"/>
                </a:tc>
                <a:extLst>
                  <a:ext uri="{0D108BD9-81ED-4DB2-BD59-A6C34878D82A}">
                    <a16:rowId xmlns:a16="http://schemas.microsoft.com/office/drawing/2014/main" val="3422515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89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3E112-0E04-72DC-C771-4044112E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7C8-B114-B738-4FAB-9CD2852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Preprocessing Pipeline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C8C9-8B72-45B4-04AD-97ECEF15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8142073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Unified pipeline: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Missing value handling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One-hot encoding for categorical features (Bank)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Scaling/</a:t>
            </a:r>
            <a:r>
              <a:rPr lang="en-US" altLang="en-US" sz="2200" dirty="0" err="1"/>
              <a:t>normalisation</a:t>
            </a:r>
            <a:r>
              <a:rPr lang="en-US" altLang="en-US" sz="2200" dirty="0"/>
              <a:t> for LR/LDA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Stratified split or CV (to preserve class ratios)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Imbalance handling: </a:t>
            </a:r>
            <a:r>
              <a:rPr lang="en-US" altLang="en-US" sz="2200" b="1" dirty="0"/>
              <a:t>SMOTE for Bank only</a:t>
            </a:r>
            <a:endParaRPr lang="en-US" altLang="en-US" sz="22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Fixed random seeds for reproducibility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5473B2-C492-4092-1CEF-06BAC1617F2A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178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4A539-F1B3-27B0-598C-23A399EC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FD90-9648-4A1A-E9BE-839F2D75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spc="300" dirty="0"/>
              <a:t>M</a:t>
            </a:r>
            <a:r>
              <a:rPr lang="en-US" b="1" dirty="0"/>
              <a:t>eta-</a:t>
            </a:r>
            <a:r>
              <a:rPr lang="en-US" b="1" spc="300" dirty="0"/>
              <a:t>F</a:t>
            </a:r>
            <a:r>
              <a:rPr lang="en-US" b="1" dirty="0"/>
              <a:t>eatures (Dataset Profiling)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CC660-5DE0-0F1E-F39F-0B9B254A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/>
              <a:t>Meta-features extracted:</a:t>
            </a:r>
            <a:endParaRPr lang="en-US" altLang="en-US" sz="2200" b="1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 err="1"/>
              <a:t>p/n</a:t>
            </a:r>
            <a:r>
              <a:rPr lang="en-US" altLang="en-US" sz="2200" b="1" dirty="0"/>
              <a:t> ratio</a:t>
            </a:r>
            <a:r>
              <a:rPr lang="en-US" altLang="en-US" sz="2200" dirty="0"/>
              <a:t> (dimensionality vs sample size)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Mean absolute correlation/multicollinearity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Sparsity (esp. after encoding)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Variance/low-variance proportion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Class imbalance ratio</a:t>
            </a:r>
          </a:p>
          <a:p>
            <a:pPr marL="0" indent="0">
              <a:buNone/>
            </a:pPr>
            <a:r>
              <a:rPr lang="en-US" sz="2200" b="1" dirty="0"/>
              <a:t>Why these:</a:t>
            </a:r>
          </a:p>
          <a:p>
            <a:pPr marL="800100" lvl="1" indent="-342900"/>
            <a:r>
              <a:rPr lang="en-US" sz="2200" dirty="0"/>
              <a:t>They are fast to compute and strongly linked to FS behaviour and risks (overfitting/runtime instability).</a:t>
            </a:r>
            <a:endParaRPr lang="en-GB" sz="22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38C946-0652-E7D6-78FC-813678F6263F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3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9759-052A-5CA2-9409-447B80B5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B723-FE64-2C2B-112C-4C9DEA08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/>
              <a:t>He</a:t>
            </a:r>
            <a:r>
              <a:rPr lang="en-US" b="1" spc="300" dirty="0"/>
              <a:t>uris</a:t>
            </a:r>
            <a:r>
              <a:rPr lang="en-US" b="1" dirty="0"/>
              <a:t>tic Rules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4E72-0403-C90E-B0E2-D74643C7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Decision logic: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If </a:t>
            </a:r>
            <a:r>
              <a:rPr lang="en-US" altLang="en-US" sz="2200" b="1" dirty="0" err="1"/>
              <a:t>p/n</a:t>
            </a:r>
            <a:r>
              <a:rPr lang="en-US" altLang="en-US" sz="2200" b="1" dirty="0"/>
              <a:t> is high</a:t>
            </a:r>
            <a:r>
              <a:rPr lang="en-US" altLang="en-US" sz="2200" dirty="0"/>
              <a:t> (very high-dimensional) → prefer </a:t>
            </a:r>
            <a:r>
              <a:rPr lang="en-US" altLang="en-US" sz="2200" b="1" dirty="0"/>
              <a:t>filter</a:t>
            </a:r>
            <a:r>
              <a:rPr lang="en-US" altLang="en-US" sz="2200" dirty="0"/>
              <a:t> (fast)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If </a:t>
            </a:r>
            <a:r>
              <a:rPr lang="en-US" altLang="en-US" sz="2200" b="1" dirty="0"/>
              <a:t>correlation is high</a:t>
            </a:r>
            <a:r>
              <a:rPr lang="en-US" altLang="en-US" sz="2200" dirty="0"/>
              <a:t> → prefer </a:t>
            </a:r>
            <a:r>
              <a:rPr lang="en-US" altLang="en-US" sz="2200" b="1" dirty="0"/>
              <a:t>embedded</a:t>
            </a:r>
            <a:r>
              <a:rPr lang="en-US" altLang="en-US" sz="2200" dirty="0"/>
              <a:t> (e.g., L1) to reduce multicollinearity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If dataset is </a:t>
            </a:r>
            <a:r>
              <a:rPr lang="en-US" altLang="en-US" sz="2200" b="1" dirty="0"/>
              <a:t>moderate size + moderate p</a:t>
            </a:r>
            <a:r>
              <a:rPr lang="en-US" altLang="en-US" sz="2200" dirty="0"/>
              <a:t> → allow </a:t>
            </a:r>
            <a:r>
              <a:rPr lang="en-US" altLang="en-US" sz="2200" b="1" dirty="0"/>
              <a:t>wrapper</a:t>
            </a:r>
            <a:r>
              <a:rPr lang="en-US" altLang="en-US" sz="2200" dirty="0"/>
              <a:t> (e.g., RFE)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If data is </a:t>
            </a:r>
            <a:r>
              <a:rPr lang="en-US" altLang="en-US" sz="2200" b="1" dirty="0"/>
              <a:t>imbalanced</a:t>
            </a:r>
            <a:r>
              <a:rPr lang="en-US" altLang="en-US" sz="2200" dirty="0"/>
              <a:t> → use stability-aware selection + evaluate with F1/AUC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Choose </a:t>
            </a:r>
            <a:r>
              <a:rPr lang="en-US" altLang="en-US" sz="2200" b="1" dirty="0"/>
              <a:t>k dynamically</a:t>
            </a:r>
            <a:r>
              <a:rPr lang="en-US" altLang="en-US" sz="2200" dirty="0"/>
              <a:t>, e.g., a small % of p for very high-dimensional datasets, with bounds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A7B504-6BCD-0BA3-6AB4-24D8A7BD18C0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43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0783B-968F-4C57-63D3-2429D491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AF22-1D3B-0B3F-67CA-DFA51329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Experimental Setup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8D7F-FD32-D88A-D417-EC206E3E1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GB" sz="2200" b="1" dirty="0"/>
              <a:t>Models used:</a:t>
            </a:r>
            <a:endParaRPr lang="en-GB" sz="2200" dirty="0"/>
          </a:p>
          <a:p>
            <a:pPr lvl="1">
              <a:lnSpc>
                <a:spcPct val="150000"/>
              </a:lnSpc>
            </a:pPr>
            <a:r>
              <a:rPr lang="en-GB" sz="2200" dirty="0"/>
              <a:t>Linear: Logistic Regression (LR), Linear Discriminant Analysis (LDA)</a:t>
            </a:r>
          </a:p>
          <a:p>
            <a:pPr lvl="1">
              <a:lnSpc>
                <a:spcPct val="150000"/>
              </a:lnSpc>
            </a:pPr>
            <a:r>
              <a:rPr lang="en-GB" sz="2200" dirty="0"/>
              <a:t>Non-linear: Random Forest (RF), </a:t>
            </a:r>
            <a:r>
              <a:rPr lang="en-GB" sz="2200" dirty="0" err="1"/>
              <a:t>XGBoost</a:t>
            </a:r>
            <a:endParaRPr lang="en-GB" sz="2200" dirty="0"/>
          </a:p>
          <a:p>
            <a:pPr>
              <a:lnSpc>
                <a:spcPct val="150000"/>
              </a:lnSpc>
              <a:buNone/>
            </a:pPr>
            <a:r>
              <a:rPr lang="en-GB" sz="2200" b="1" dirty="0"/>
              <a:t>Conditions compared:</a:t>
            </a:r>
            <a:endParaRPr lang="en-GB" sz="2200" dirty="0"/>
          </a:p>
          <a:p>
            <a:pPr lvl="1">
              <a:lnSpc>
                <a:spcPct val="150000"/>
              </a:lnSpc>
            </a:pPr>
            <a:r>
              <a:rPr lang="en-GB" sz="2200" dirty="0"/>
              <a:t>Baseline: </a:t>
            </a:r>
            <a:r>
              <a:rPr lang="en-GB" sz="2200" b="1" dirty="0"/>
              <a:t>No Feature Selection</a:t>
            </a:r>
            <a:endParaRPr lang="en-GB" sz="2200" dirty="0"/>
          </a:p>
          <a:p>
            <a:pPr lvl="1">
              <a:lnSpc>
                <a:spcPct val="150000"/>
              </a:lnSpc>
            </a:pPr>
            <a:r>
              <a:rPr lang="en-GB" sz="2200" dirty="0"/>
              <a:t>Proposed: </a:t>
            </a:r>
            <a:r>
              <a:rPr lang="en-GB" sz="2200" b="1" dirty="0"/>
              <a:t>Heuristic-Adaptive Feature Selection</a:t>
            </a:r>
            <a:endParaRPr lang="en-GB" sz="2200" dirty="0"/>
          </a:p>
          <a:p>
            <a:pPr>
              <a:lnSpc>
                <a:spcPct val="150000"/>
              </a:lnSpc>
              <a:buNone/>
            </a:pPr>
            <a:r>
              <a:rPr lang="en-GB" sz="2200" b="1" dirty="0"/>
              <a:t>Evaluation:</a:t>
            </a:r>
            <a:endParaRPr lang="en-GB" sz="2200" dirty="0"/>
          </a:p>
          <a:p>
            <a:pPr lvl="1">
              <a:lnSpc>
                <a:spcPct val="150000"/>
              </a:lnSpc>
            </a:pPr>
            <a:r>
              <a:rPr lang="en-GB" sz="2200" dirty="0"/>
              <a:t>Cross-validation - </a:t>
            </a:r>
            <a:r>
              <a:rPr lang="en-US" dirty="0"/>
              <a:t>3-fold CV × 2 seeds = 6 runs</a:t>
            </a:r>
            <a:endParaRPr lang="en-GB" sz="2200" dirty="0"/>
          </a:p>
          <a:p>
            <a:pPr lvl="1">
              <a:lnSpc>
                <a:spcPct val="150000"/>
              </a:lnSpc>
            </a:pPr>
            <a:r>
              <a:rPr lang="en-GB" sz="2200" dirty="0"/>
              <a:t>FS applied inside training folds only (no leakage)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9CA6B-329B-0FDA-F180-924C72A565C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766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ED9B-71A4-7ACA-591F-B630F6F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440-1587-1CE2-FFE8-B83355B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spc="300" dirty="0"/>
              <a:t>M</a:t>
            </a:r>
            <a:r>
              <a:rPr lang="en-GB" b="1" dirty="0"/>
              <a:t>etrics + </a:t>
            </a:r>
            <a:r>
              <a:rPr lang="en-GB" b="1" spc="300" dirty="0"/>
              <a:t>S</a:t>
            </a:r>
            <a:r>
              <a:rPr lang="en-GB" b="1" dirty="0"/>
              <a:t>tatistical Testing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4254-298C-D055-C711-BF102C5A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69068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200" b="1" dirty="0"/>
              <a:t>Performance metrics:</a:t>
            </a:r>
            <a:endParaRPr lang="en-GB" sz="2200" dirty="0"/>
          </a:p>
          <a:p>
            <a:pPr lvl="1">
              <a:lnSpc>
                <a:spcPct val="100000"/>
              </a:lnSpc>
            </a:pPr>
            <a:r>
              <a:rPr lang="en-GB" sz="2200" dirty="0"/>
              <a:t>Accuracy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F1-score (especially for imbalance)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AUC (binary or one-vs-rest for multiclass)</a:t>
            </a:r>
          </a:p>
          <a:p>
            <a:pPr>
              <a:lnSpc>
                <a:spcPct val="120000"/>
              </a:lnSpc>
            </a:pPr>
            <a:r>
              <a:rPr lang="en-GB" sz="2200" b="1" dirty="0"/>
              <a:t>Efficiency:</a:t>
            </a:r>
            <a:endParaRPr lang="en-GB" sz="2200" dirty="0"/>
          </a:p>
          <a:p>
            <a:pPr lvl="1">
              <a:lnSpc>
                <a:spcPct val="120000"/>
              </a:lnSpc>
            </a:pPr>
            <a:r>
              <a:rPr lang="en-GB" sz="2200" dirty="0"/>
              <a:t>Runtime (FS + training time)</a:t>
            </a:r>
          </a:p>
          <a:p>
            <a:pPr>
              <a:lnSpc>
                <a:spcPct val="120000"/>
              </a:lnSpc>
            </a:pPr>
            <a:r>
              <a:rPr lang="en-GB" sz="2200" b="1" dirty="0"/>
              <a:t>Stability:</a:t>
            </a:r>
            <a:endParaRPr lang="en-GB" sz="2200" dirty="0"/>
          </a:p>
          <a:p>
            <a:pPr lvl="1">
              <a:lnSpc>
                <a:spcPct val="120000"/>
              </a:lnSpc>
            </a:pPr>
            <a:r>
              <a:rPr lang="en-GB" sz="2200" dirty="0" err="1"/>
              <a:t>Kuncheva</a:t>
            </a:r>
            <a:r>
              <a:rPr lang="en-GB" sz="2200" dirty="0"/>
              <a:t> Index (or Jaccard corrected) across folds</a:t>
            </a:r>
          </a:p>
          <a:p>
            <a:pPr>
              <a:lnSpc>
                <a:spcPct val="120000"/>
              </a:lnSpc>
            </a:pPr>
            <a:r>
              <a:rPr lang="en-GB" sz="2200" b="1" dirty="0"/>
              <a:t>Statistics:</a:t>
            </a:r>
            <a:endParaRPr lang="en-GB" sz="2200" dirty="0"/>
          </a:p>
          <a:p>
            <a:pPr lvl="1">
              <a:lnSpc>
                <a:spcPct val="120000"/>
              </a:lnSpc>
            </a:pPr>
            <a:r>
              <a:rPr lang="en-GB" sz="2200" dirty="0"/>
              <a:t>Paired comparisons (paired t-test / ANOVA depending on your final analysis)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4DFC-825D-8C12-1738-D6C3DB276E2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85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3BA22-5B2F-E652-D77F-10FB3AAE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8890-8CF1-83D6-F540-5C861CFB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Results </a:t>
            </a:r>
            <a:r>
              <a:rPr lang="en-GB" b="1" spc="300" dirty="0"/>
              <a:t>–Predictive Performance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BAF5-B010-9F7A-2151-2A52634F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4814674" cy="44608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Key points :</a:t>
            </a:r>
          </a:p>
          <a:p>
            <a:pPr marL="0" indent="0">
              <a:buNone/>
            </a:pPr>
            <a:r>
              <a:rPr lang="en-US" b="1" dirty="0"/>
              <a:t>Breast Cancer (low-dimensional, correlated):</a:t>
            </a:r>
          </a:p>
          <a:p>
            <a:r>
              <a:rPr lang="en-US" dirty="0"/>
              <a:t>Heuristic made little/no reduction, so accuracy, F1, AUC, and stability stayed the same across models.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Bank Marketing (imbalanced, sparse after encoding):</a:t>
            </a:r>
          </a:p>
          <a:p>
            <a:pPr marL="285750" indent="-285750"/>
            <a:r>
              <a:rPr lang="en-US" dirty="0"/>
              <a:t>Accuracy remains misleadingly high, but clear drops in F1 and AUC show poorer minority-class detection and higher risk in imbalanced settings.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CIFAR-10 (3,072-D tabular pixels):</a:t>
            </a:r>
          </a:p>
          <a:p>
            <a:pPr marL="285750" indent="-285750"/>
            <a:r>
              <a:rPr lang="en-US" dirty="0"/>
              <a:t>Strong dimensionality reduction improves efficiency, but accuracy, F1, and AUC consistently fall because univariate filters ignore spatial and interaction structure.</a:t>
            </a:r>
          </a:p>
          <a:p>
            <a:pPr>
              <a:buNone/>
            </a:pP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CB69D-F127-ABF0-C9AF-8A9DAA2469E7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CB9BBA-9BBE-61EB-673D-8DEA00A2D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20965"/>
              </p:ext>
            </p:extLst>
          </p:nvPr>
        </p:nvGraphicFramePr>
        <p:xfrm>
          <a:off x="5245101" y="1825625"/>
          <a:ext cx="6516473" cy="435133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96967">
                  <a:extLst>
                    <a:ext uri="{9D8B030D-6E8A-4147-A177-3AD203B41FA5}">
                      <a16:colId xmlns:a16="http://schemas.microsoft.com/office/drawing/2014/main" val="2267622785"/>
                    </a:ext>
                  </a:extLst>
                </a:gridCol>
                <a:gridCol w="1029484">
                  <a:extLst>
                    <a:ext uri="{9D8B030D-6E8A-4147-A177-3AD203B41FA5}">
                      <a16:colId xmlns:a16="http://schemas.microsoft.com/office/drawing/2014/main" val="2028054242"/>
                    </a:ext>
                  </a:extLst>
                </a:gridCol>
                <a:gridCol w="899758">
                  <a:extLst>
                    <a:ext uri="{9D8B030D-6E8A-4147-A177-3AD203B41FA5}">
                      <a16:colId xmlns:a16="http://schemas.microsoft.com/office/drawing/2014/main" val="793286056"/>
                    </a:ext>
                  </a:extLst>
                </a:gridCol>
                <a:gridCol w="801155">
                  <a:extLst>
                    <a:ext uri="{9D8B030D-6E8A-4147-A177-3AD203B41FA5}">
                      <a16:colId xmlns:a16="http://schemas.microsoft.com/office/drawing/2014/main" val="4063740375"/>
                    </a:ext>
                  </a:extLst>
                </a:gridCol>
                <a:gridCol w="591623">
                  <a:extLst>
                    <a:ext uri="{9D8B030D-6E8A-4147-A177-3AD203B41FA5}">
                      <a16:colId xmlns:a16="http://schemas.microsoft.com/office/drawing/2014/main" val="237522508"/>
                    </a:ext>
                  </a:extLst>
                </a:gridCol>
                <a:gridCol w="739528">
                  <a:extLst>
                    <a:ext uri="{9D8B030D-6E8A-4147-A177-3AD203B41FA5}">
                      <a16:colId xmlns:a16="http://schemas.microsoft.com/office/drawing/2014/main" val="2453357755"/>
                    </a:ext>
                  </a:extLst>
                </a:gridCol>
                <a:gridCol w="644315">
                  <a:extLst>
                    <a:ext uri="{9D8B030D-6E8A-4147-A177-3AD203B41FA5}">
                      <a16:colId xmlns:a16="http://schemas.microsoft.com/office/drawing/2014/main" val="3364469587"/>
                    </a:ext>
                  </a:extLst>
                </a:gridCol>
                <a:gridCol w="713643">
                  <a:extLst>
                    <a:ext uri="{9D8B030D-6E8A-4147-A177-3AD203B41FA5}">
                      <a16:colId xmlns:a16="http://schemas.microsoft.com/office/drawing/2014/main" val="3456506784"/>
                    </a:ext>
                  </a:extLst>
                </a:gridCol>
              </a:tblGrid>
              <a:tr h="4829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Dataset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Model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Acc  (No-FS)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Acc (Heuristic)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F1 (No-FS)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F1 (Heuristic)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AUC (No-FS)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AUC  (Heuristic)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/>
                </a:tc>
                <a:extLst>
                  <a:ext uri="{0D108BD9-81ED-4DB2-BD59-A6C34878D82A}">
                    <a16:rowId xmlns:a16="http://schemas.microsoft.com/office/drawing/2014/main" val="2182025332"/>
                  </a:ext>
                </a:extLst>
              </a:tr>
              <a:tr h="4829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Bank Marketing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Logistic Regression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0.895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0.875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0.528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0.265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0.888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0.672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543727979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Bank Marketing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LDA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0.897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0.466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0.177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0.873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0.671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792123301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Bank Marketing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Random Forest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0.895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0.559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0.262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0.919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0.639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819072471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Bank Marketing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 err="1">
                          <a:effectLst/>
                        </a:rPr>
                        <a:t>XGBoost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0.863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0.583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0.306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0.677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138524817"/>
                  </a:ext>
                </a:extLst>
              </a:tr>
              <a:tr h="4829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Breast Cancer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Logistic Regression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0.972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0.972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0.961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0.961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0.994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0.994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407983462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Breast Cancer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LDA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379019221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Breast Cancer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Random Forest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0.986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0.986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4159793119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Breast Cancer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XGBoost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0.958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0.943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0.943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0.989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0.989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998378788"/>
                  </a:ext>
                </a:extLst>
              </a:tr>
              <a:tr h="4829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CIFAR-10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Logistic Regression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0.293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0.23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0.295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0.219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0.724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0.666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475173250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CIFAR-10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LDA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0.191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0.177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0.19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0.172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0.627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429571508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CIFAR-10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Random Forest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0.346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0.24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0.767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0.696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054178087"/>
                  </a:ext>
                </a:extLst>
              </a:tr>
              <a:tr h="268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CIFAR-10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XGBoost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0.321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0.222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0.757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0.676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19650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70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B41A3-746F-F00A-A7BC-384DA323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BB2C-2747-2760-7901-2D875526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/>
              <a:t>Results </a:t>
            </a:r>
            <a:r>
              <a:rPr lang="en-US" b="1" spc="300" dirty="0"/>
              <a:t>–Runtime and Stability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CF367-2BF8-23E8-94E3-F40D0D74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4814674" cy="44608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Key Points</a:t>
            </a:r>
          </a:p>
          <a:p>
            <a:pPr marL="0" indent="0">
              <a:buNone/>
            </a:pPr>
            <a:r>
              <a:rPr lang="en-US" b="1" dirty="0"/>
              <a:t>CIFAR-10:</a:t>
            </a:r>
          </a:p>
          <a:p>
            <a:pPr marL="285750" indent="-285750">
              <a:lnSpc>
                <a:spcPct val="120000"/>
              </a:lnSpc>
            </a:pPr>
            <a:r>
              <a:rPr lang="en-US" dirty="0"/>
              <a:t>Large reduction (3,072 → 153) improves efficiency, but </a:t>
            </a:r>
            <a:r>
              <a:rPr lang="en-US" b="1" dirty="0"/>
              <a:t>Accuracy, F1, and AUC drop</a:t>
            </a:r>
            <a:r>
              <a:rPr lang="en-US" dirty="0"/>
              <a:t> due to loss of interaction/spatial signal.</a:t>
            </a:r>
          </a:p>
          <a:p>
            <a:pPr marL="0" indent="0">
              <a:buNone/>
            </a:pPr>
            <a:r>
              <a:rPr lang="en-US" b="1" dirty="0"/>
              <a:t>Bank Marketing:</a:t>
            </a:r>
          </a:p>
          <a:p>
            <a:pPr marL="285750" indent="-285750">
              <a:lnSpc>
                <a:spcPct val="120000"/>
              </a:lnSpc>
            </a:pPr>
            <a:r>
              <a:rPr lang="en-US" dirty="0"/>
              <a:t>Moderate reduction (47 → 30), but </a:t>
            </a:r>
            <a:r>
              <a:rPr lang="en-US" b="1" dirty="0"/>
              <a:t>runtime increases</a:t>
            </a:r>
            <a:r>
              <a:rPr lang="en-US" dirty="0"/>
              <a:t> because </a:t>
            </a:r>
            <a:r>
              <a:rPr lang="en-US" b="1" dirty="0"/>
              <a:t>RFE is expensive</a:t>
            </a:r>
            <a:r>
              <a:rPr lang="en-US" dirty="0"/>
              <a:t>, and </a:t>
            </a:r>
            <a:r>
              <a:rPr lang="en-US" b="1" dirty="0"/>
              <a:t>F1/AUC declines</a:t>
            </a:r>
            <a:r>
              <a:rPr lang="en-US" dirty="0"/>
              <a:t> under class imbalance.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Stability (KI):</a:t>
            </a:r>
          </a:p>
          <a:p>
            <a:pPr marL="285750" indent="-285750">
              <a:lnSpc>
                <a:spcPct val="120000"/>
              </a:lnSpc>
            </a:pPr>
            <a:r>
              <a:rPr lang="en-US" dirty="0"/>
              <a:t>High stability (≈1.0) reflects </a:t>
            </a:r>
            <a:r>
              <a:rPr lang="en-US" b="1" dirty="0"/>
              <a:t>consistent or conservative selection</a:t>
            </a:r>
            <a:r>
              <a:rPr lang="en-US" dirty="0"/>
              <a:t>, so it must be read </a:t>
            </a:r>
            <a:r>
              <a:rPr lang="en-US" b="1" dirty="0"/>
              <a:t>together with F1, AUC, and leakage checks</a:t>
            </a:r>
            <a:r>
              <a:rPr lang="en-US" dirty="0"/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82FA6F-CC27-056E-274A-25DB80C014C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1E7234-45A8-8E1E-184A-10C6DCA9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351530"/>
              </p:ext>
            </p:extLst>
          </p:nvPr>
        </p:nvGraphicFramePr>
        <p:xfrm>
          <a:off x="5245101" y="2036656"/>
          <a:ext cx="6730998" cy="405934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89616">
                  <a:extLst>
                    <a:ext uri="{9D8B030D-6E8A-4147-A177-3AD203B41FA5}">
                      <a16:colId xmlns:a16="http://schemas.microsoft.com/office/drawing/2014/main" val="574263306"/>
                    </a:ext>
                  </a:extLst>
                </a:gridCol>
                <a:gridCol w="1210282">
                  <a:extLst>
                    <a:ext uri="{9D8B030D-6E8A-4147-A177-3AD203B41FA5}">
                      <a16:colId xmlns:a16="http://schemas.microsoft.com/office/drawing/2014/main" val="3962545081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3786408775"/>
                    </a:ext>
                  </a:extLst>
                </a:gridCol>
                <a:gridCol w="941854">
                  <a:extLst>
                    <a:ext uri="{9D8B030D-6E8A-4147-A177-3AD203B41FA5}">
                      <a16:colId xmlns:a16="http://schemas.microsoft.com/office/drawing/2014/main" val="1223459266"/>
                    </a:ext>
                  </a:extLst>
                </a:gridCol>
                <a:gridCol w="695524">
                  <a:extLst>
                    <a:ext uri="{9D8B030D-6E8A-4147-A177-3AD203B41FA5}">
                      <a16:colId xmlns:a16="http://schemas.microsoft.com/office/drawing/2014/main" val="70375372"/>
                    </a:ext>
                  </a:extLst>
                </a:gridCol>
                <a:gridCol w="869404">
                  <a:extLst>
                    <a:ext uri="{9D8B030D-6E8A-4147-A177-3AD203B41FA5}">
                      <a16:colId xmlns:a16="http://schemas.microsoft.com/office/drawing/2014/main" val="368065131"/>
                    </a:ext>
                  </a:extLst>
                </a:gridCol>
                <a:gridCol w="927364">
                  <a:extLst>
                    <a:ext uri="{9D8B030D-6E8A-4147-A177-3AD203B41FA5}">
                      <a16:colId xmlns:a16="http://schemas.microsoft.com/office/drawing/2014/main" val="697889465"/>
                    </a:ext>
                  </a:extLst>
                </a:gridCol>
              </a:tblGrid>
              <a:tr h="4505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Dataset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Model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Runtime (No-FS)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Runtime (Heuristic)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Feat  (No-FS)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Feat (Heuristic)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Stability (Heuristic)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796804199"/>
                  </a:ext>
                </a:extLst>
              </a:tr>
              <a:tr h="4505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Bank Marketing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Logistic Regression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5.302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27.904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1911092248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Bank Marketing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LDA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0.19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23.481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99479209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Bank Marketing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Random Forest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12.032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26.505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2272297846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Bank Marketing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XGBoost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6.897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37.203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768618930"/>
                  </a:ext>
                </a:extLst>
              </a:tr>
              <a:tr h="4505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Breast Cancer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Logistic Regression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0.006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0.014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1339271428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Breast Cancer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LDA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0.003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0.012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901074584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Breast Cancer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Random Forest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0.349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0.359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2410416003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Breast Cancer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XGBoost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2826016212"/>
                  </a:ext>
                </a:extLst>
              </a:tr>
              <a:tr h="4505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CIFAR-10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Logistic Regression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70.456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18.877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153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0.594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458131733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CIFAR-10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LDA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3.315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11.926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153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0.594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012614264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CIFAR-10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Random Forest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3.746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12.359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153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0.594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297195959"/>
                  </a:ext>
                </a:extLst>
              </a:tr>
              <a:tr h="250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CIFAR-10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XGBoost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77.483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31.849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3072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153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0.594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6" marR="6946" marT="6946" marB="0" anchor="ctr"/>
                </a:tc>
                <a:extLst>
                  <a:ext uri="{0D108BD9-81ED-4DB2-BD59-A6C34878D82A}">
                    <a16:rowId xmlns:a16="http://schemas.microsoft.com/office/drawing/2014/main" val="358138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406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FC58-E678-D64F-FEFD-EA1BB384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A5E7-9BD0-CBC6-AF1E-4E675917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/>
              <a:t>Discussion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6D23-49D4-967B-FFB4-05B7C071C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690687"/>
            <a:ext cx="10326473" cy="50657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Key message: </a:t>
            </a:r>
            <a:r>
              <a:rPr lang="en-US" sz="2200" dirty="0"/>
              <a:t>The heuristic is data-regime dependent; it behaves well when the dataset structure matches the assumptions behind the FS family choice.</a:t>
            </a:r>
          </a:p>
          <a:p>
            <a:r>
              <a:rPr lang="en-US" sz="2200" dirty="0"/>
              <a:t>Breast Cancer: “Safe adaptation” — little/no performance change because the dataset is already low-dimensional and high-signal; FS mainly supports interpretability and redundancy control. </a:t>
            </a:r>
          </a:p>
          <a:p>
            <a:r>
              <a:rPr lang="en-US" sz="2200" dirty="0"/>
              <a:t>Bank Marketing: “Reliable failure” — wrapper FS became expensive and harmed minority detection; SHAP indicates leakage-prone predictors can dominate, creating the accuracy paradox.</a:t>
            </a:r>
          </a:p>
          <a:p>
            <a:r>
              <a:rPr lang="en-US" sz="2200" dirty="0"/>
              <a:t>CIFAR-10 tabular: filter FS improves feasibility but loses information because tabular pixels don’t preserve spatial meaning; highlights the limit of classical FS on raw image vectors.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770E8B-28AB-0CDD-5D24-3E387389A3F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471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CE680-FF15-D1AB-8C6D-81E5EF69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449-E529-2D04-BFF9-1E7BBF48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81B54-BD61-8B1F-FD39-76DA80877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690687"/>
            <a:ext cx="10326473" cy="50657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What was learned + hypothesis outcome:</a:t>
            </a:r>
            <a:endParaRPr lang="en-GB" sz="2000" dirty="0"/>
          </a:p>
          <a:p>
            <a:pPr marL="742950" lvl="1" indent="-285750"/>
            <a:r>
              <a:rPr lang="en-GB" sz="2200" dirty="0"/>
              <a:t>The framework successfully used meta-features to select FS families and feature counts in a transparent way (rule-based, auditable). </a:t>
            </a:r>
          </a:p>
          <a:p>
            <a:pPr marL="742950" lvl="1" indent="-285750"/>
            <a:r>
              <a:rPr lang="en-GB" sz="2200" dirty="0"/>
              <a:t>Performance gains were not consistent across all datasets/models; results confirm trade-offs rather than a universal win.</a:t>
            </a:r>
          </a:p>
          <a:p>
            <a:pPr marL="742950" lvl="1" indent="-285750"/>
            <a:r>
              <a:rPr lang="en-GB" sz="2200" dirty="0"/>
              <a:t>Efficiency gains appear mainly when dimensionality is extreme (e.g., CIFAR-10), but may be cancelled by wrapper overhead in sparse/encoded data (Bank). 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Hypothesis outcome</a:t>
            </a:r>
            <a:endParaRPr lang="en-GB" sz="2000" dirty="0"/>
          </a:p>
          <a:p>
            <a:pPr marL="742950" lvl="1" indent="-285750"/>
            <a:r>
              <a:rPr lang="en-GB" sz="2200" dirty="0"/>
              <a:t>Overall: H₀ cannot be universally rejected (no consistent improvement across all datasets).</a:t>
            </a:r>
          </a:p>
          <a:p>
            <a:pPr marL="742950" lvl="1" indent="-285750"/>
            <a:r>
              <a:rPr lang="en-GB" sz="2200" dirty="0"/>
              <a:t>Nuanced support for H₁: heuristic-FS can improve efficiency and sometimes be “safe” (no loss) in low-dimensional settings, but needs guardrails for imbalance/leakage and non-tabular structure.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C56C3-5CA7-2334-5E5A-F26D90F29BC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317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01AD7-61D1-122D-35A4-BEA43406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A198-7C62-AA90-3171-19E4E787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b="1" dirty="0"/>
              <a:t>Recommendations and Future Work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D73F-2598-186F-4D71-641FF5BF8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690687"/>
            <a:ext cx="11075773" cy="5065711"/>
          </a:xfrm>
        </p:spPr>
        <p:txBody>
          <a:bodyPr>
            <a:noAutofit/>
          </a:bodyPr>
          <a:lstStyle/>
          <a:p>
            <a:r>
              <a:rPr lang="en-GB" sz="2200" b="1" dirty="0"/>
              <a:t>Framework improvements (practical)</a:t>
            </a:r>
          </a:p>
          <a:p>
            <a:pPr marL="742950" lvl="1" indent="-285750"/>
            <a:r>
              <a:rPr lang="en-GB" sz="2200" dirty="0"/>
              <a:t>Add leakage screening rules (flag and exclude features like “duration”-type predictors before FS). </a:t>
            </a:r>
          </a:p>
          <a:p>
            <a:pPr marL="742950" lvl="1" indent="-285750"/>
            <a:r>
              <a:rPr lang="en-GB" sz="2200" dirty="0"/>
              <a:t>Make wrapper selection minority-aware (optimise for F1/AUC or use class weights) instead of accuracy-driven elimination. </a:t>
            </a:r>
          </a:p>
          <a:p>
            <a:pPr marL="742950" lvl="1" indent="-285750"/>
            <a:r>
              <a:rPr lang="en-GB" sz="2200" dirty="0"/>
              <a:t>Add a “cost check”: if wrapper FS runtime is likely to dominate (sparse one-hot), fall back to a fast filter/embedded option.</a:t>
            </a:r>
          </a:p>
          <a:p>
            <a:pPr>
              <a:lnSpc>
                <a:spcPct val="150000"/>
              </a:lnSpc>
            </a:pPr>
            <a:r>
              <a:rPr lang="en-GB" sz="2200" b="1" dirty="0"/>
              <a:t>Evaluation extensions</a:t>
            </a:r>
            <a:endParaRPr lang="en-GB" sz="2200" dirty="0"/>
          </a:p>
          <a:p>
            <a:pPr marL="742950" lvl="1" indent="-285750"/>
            <a:r>
              <a:rPr lang="en-GB" sz="2200" dirty="0"/>
              <a:t>Test on more datasets + report effect sizes and stronger stability analysis across more resamples. </a:t>
            </a:r>
          </a:p>
          <a:p>
            <a:r>
              <a:rPr lang="en-GB" sz="2200" b="1" dirty="0"/>
              <a:t>For image-like data</a:t>
            </a:r>
            <a:endParaRPr lang="en-GB" sz="2200" dirty="0"/>
          </a:p>
          <a:p>
            <a:pPr marL="742950" lvl="1" indent="-285750"/>
            <a:r>
              <a:rPr lang="en-GB" sz="2200" dirty="0"/>
              <a:t>Replace raw pixels with better representations (e.g., PCA or CNN embeddings) before applying tabular FS, because spatial structure is otherwise lost.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A22EDF-45C0-503B-8DAB-B4A790455000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622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D62C4-CDDF-997C-59F6-D88DE031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E1D5-0049-110B-29B2-6F6BC0A1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Executive Summary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7C826-D375-BAB3-43C7-EE9D336D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This study evaluates a </a:t>
            </a:r>
            <a:r>
              <a:rPr lang="en-US" sz="2200" b="1" dirty="0"/>
              <a:t>heuristic-adaptive feature-selection framework</a:t>
            </a:r>
            <a:r>
              <a:rPr lang="en-US" sz="2200" dirty="0"/>
              <a:t> designed to select appropriate feature-selection strategies based on dataset characteristics. Using interpretable meta-features such as dimensionality, correlation, sparsity, and class imbalance, the framework applies rule-based decisions to balance </a:t>
            </a:r>
            <a:r>
              <a:rPr lang="en-US" sz="2200" b="1" dirty="0"/>
              <a:t>accuracy, runtime, and stability</a:t>
            </a:r>
            <a:r>
              <a:rPr lang="en-US" sz="2200" dirty="0"/>
              <a:t>.</a:t>
            </a:r>
          </a:p>
          <a:p>
            <a:r>
              <a:rPr lang="en-US" sz="2200" dirty="0"/>
              <a:t>Experiments on healthcare, finance, and computer-vision datasets show that heuristic feature selection is </a:t>
            </a:r>
            <a:r>
              <a:rPr lang="en-US" sz="2200" b="1" dirty="0"/>
              <a:t>data-regime dependent</a:t>
            </a:r>
            <a:r>
              <a:rPr lang="en-US" sz="2200" dirty="0"/>
              <a:t>: it behaves safely in low-dimensional data, improves efficiency in very high-dimensional settings, but can degrade minority-class performance in imbalanced and sparse datasets.</a:t>
            </a:r>
          </a:p>
          <a:p>
            <a:r>
              <a:rPr lang="en-US" sz="2200" dirty="0"/>
              <a:t>Overall, the framework provides a </a:t>
            </a:r>
            <a:r>
              <a:rPr lang="en-US" sz="2200" b="1" dirty="0"/>
              <a:t>transparent and computationally efficient decision-support tool</a:t>
            </a:r>
            <a:r>
              <a:rPr lang="en-US" sz="2200" dirty="0"/>
              <a:t>, highlighting practical trade-offs rather than guaranteeing universal performance gains.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7457C6-61D3-94B1-6A39-F0156E78717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960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9BF30-E6D8-5B5B-82B2-F51B7AD5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F6D2-FDA6-BC46-0D08-5F74D030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6AF95-893B-A364-7D9A-C27CF44F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Guyon, I. and Elisseeff, A. (2003) ‘An introduction to variable and feature selection’, </a:t>
            </a:r>
            <a:r>
              <a:rPr lang="en-US" i="1" dirty="0"/>
              <a:t>Journal of Machine Learning Research</a:t>
            </a:r>
            <a:r>
              <a:rPr lang="en-US" dirty="0"/>
              <a:t>, 3, pp. 1157–1182.</a:t>
            </a:r>
          </a:p>
          <a:p>
            <a:r>
              <a:rPr lang="en-US" dirty="0" err="1"/>
              <a:t>Kohavi</a:t>
            </a:r>
            <a:r>
              <a:rPr lang="en-US" dirty="0"/>
              <a:t>, R. and John, G.H. (1997) ‘Wrappers for feature subset selection’, </a:t>
            </a:r>
            <a:r>
              <a:rPr lang="en-US" i="1" dirty="0"/>
              <a:t>Artificial Intelligence</a:t>
            </a:r>
            <a:r>
              <a:rPr lang="en-US" dirty="0"/>
              <a:t>, 97(1–2), pp. 273–324. https://doi.org/10.1016/S0004-3702(97)00043-X</a:t>
            </a:r>
          </a:p>
          <a:p>
            <a:r>
              <a:rPr lang="en-US" dirty="0" err="1"/>
              <a:t>Tibshirani</a:t>
            </a:r>
            <a:r>
              <a:rPr lang="en-US" dirty="0"/>
              <a:t>, R. (1996) ‘Regression shrinkage and selection via the lasso’, </a:t>
            </a:r>
            <a:r>
              <a:rPr lang="en-US" i="1" dirty="0"/>
              <a:t>Journal of the Royal Statistical Society: Series B</a:t>
            </a:r>
            <a:r>
              <a:rPr lang="en-US" dirty="0"/>
              <a:t>, 58(1), pp. 267–288.</a:t>
            </a:r>
          </a:p>
          <a:p>
            <a:r>
              <a:rPr lang="en-GB" dirty="0" err="1"/>
              <a:t>Kuncheva</a:t>
            </a:r>
            <a:r>
              <a:rPr lang="en-GB" dirty="0"/>
              <a:t>, L.I. (2007) ‘A stability index for feature selection’, </a:t>
            </a:r>
            <a:r>
              <a:rPr lang="en-GB" i="1" dirty="0"/>
              <a:t>Artificial Intelligence and Applications</a:t>
            </a:r>
            <a:r>
              <a:rPr lang="en-GB" dirty="0"/>
              <a:t>, pp. 421–427.</a:t>
            </a:r>
          </a:p>
          <a:p>
            <a:r>
              <a:rPr lang="en-GB" dirty="0"/>
              <a:t>Khaire, U.M. and Dhanalakshmi, R. (2022) ‘Stability of feature selection algorithm: A review’, </a:t>
            </a:r>
            <a:r>
              <a:rPr lang="en-GB" i="1" dirty="0"/>
              <a:t>Journal of King Saud University – Computer and Information Sciences</a:t>
            </a:r>
            <a:r>
              <a:rPr lang="en-GB" dirty="0"/>
              <a:t>, 34(6), pp. 2415–2433. </a:t>
            </a:r>
            <a:r>
              <a:rPr lang="en-GB" dirty="0">
                <a:hlinkClick r:id="rId3"/>
              </a:rPr>
              <a:t>https://doi.org/10.1016/j.jksuci.2020.07.010</a:t>
            </a:r>
            <a:endParaRPr lang="en-GB" dirty="0"/>
          </a:p>
          <a:p>
            <a:r>
              <a:rPr lang="en-GB" dirty="0"/>
              <a:t>Moro, S., Cortez, P. and Rita, P. (2014) ‘A data-driven approach to predict the success of bank telemarketing’, </a:t>
            </a:r>
            <a:r>
              <a:rPr lang="en-GB" i="1" dirty="0"/>
              <a:t>Decision Support Systems</a:t>
            </a:r>
            <a:r>
              <a:rPr lang="en-GB" dirty="0"/>
              <a:t>, 62, pp. 22–31. </a:t>
            </a:r>
            <a:r>
              <a:rPr lang="en-GB" dirty="0">
                <a:hlinkClick r:id="rId4"/>
              </a:rPr>
              <a:t>https://doi.org/10.1016/j.dss.2014.03.001</a:t>
            </a:r>
            <a:endParaRPr lang="en-GB" dirty="0"/>
          </a:p>
          <a:p>
            <a:r>
              <a:rPr lang="en-GB" dirty="0"/>
              <a:t>Street, W.N., Wolberg, W.H. and Mangasarian, O.L. (1993) ‘Nuclear feature extraction for breast tumour diagnosis’, </a:t>
            </a:r>
            <a:r>
              <a:rPr lang="en-GB" i="1" dirty="0"/>
              <a:t>Proceedings of the IEEE International Symposium on Biomedical Engineering</a:t>
            </a:r>
            <a:r>
              <a:rPr lang="en-GB" dirty="0"/>
              <a:t>, pp. 861–870.</a:t>
            </a:r>
          </a:p>
          <a:p>
            <a:r>
              <a:rPr lang="en-US" dirty="0"/>
              <a:t>Lundberg, S.M. and Lee, S.-I. (2017) ‘A unified approach to interpreting model predictions’, </a:t>
            </a:r>
            <a:r>
              <a:rPr lang="en-US" i="1" dirty="0"/>
              <a:t>Advances in Neural Information Processing Systems</a:t>
            </a:r>
            <a:r>
              <a:rPr lang="en-US" dirty="0"/>
              <a:t>, 30, pp. 4765–4774.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29C2A5-3D4A-AB8B-35CC-A0C7327DDA6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48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29891-9BC7-5DEB-8759-D5E0ED6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4EA-193B-E6CE-01EC-5743B8C3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Q&amp;A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AE56-9C2C-711D-E0F2-F6D9421BE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Thank you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B56490-0ADA-F749-CEBF-E335FBB3631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02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F4A1C5737404AA29ACCAF4ACF7929" ma:contentTypeVersion="14" ma:contentTypeDescription="Create a new document." ma:contentTypeScope="" ma:versionID="b1138fc30112e532684a3844b00088b2">
  <xsd:schema xmlns:xsd="http://www.w3.org/2001/XMLSchema" xmlns:xs="http://www.w3.org/2001/XMLSchema" xmlns:p="http://schemas.microsoft.com/office/2006/metadata/properties" xmlns:ns2="5f174165-9e85-4698-9101-9df70a8b8bcc" xmlns:ns3="59cd5ed3-f717-4fd0-ac6b-966345ff2509" targetNamespace="http://schemas.microsoft.com/office/2006/metadata/properties" ma:root="true" ma:fieldsID="c9ac159f03f3a3cc81b964132c323051" ns2:_="" ns3:_="">
    <xsd:import namespace="5f174165-9e85-4698-9101-9df70a8b8bcc"/>
    <xsd:import namespace="59cd5ed3-f717-4fd0-ac6b-966345ff25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74165-9e85-4698-9101-9df70a8b8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abb1a67c-477c-4f54-866d-e73c7b3fe0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d5ed3-f717-4fd0-ac6b-966345ff250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174165-9e85-4698-9101-9df70a8b8b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032408-9DD7-44B2-8F33-9CF0367CBF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7C60E5-5521-4DCC-AAF9-EEA6CF2D84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74165-9e85-4698-9101-9df70a8b8bcc"/>
    <ds:schemaRef ds:uri="59cd5ed3-f717-4fd0-ac6b-966345ff25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93ECB7-811A-478B-B876-D16AAA496A70}">
  <ds:schemaRefs>
    <ds:schemaRef ds:uri="http://schemas.microsoft.com/office/2006/metadata/properties"/>
    <ds:schemaRef ds:uri="http://schemas.microsoft.com/office/infopath/2007/PartnerControls"/>
    <ds:schemaRef ds:uri="dafeb0ad-13d5-4e0d-8144-31148812dcc0"/>
    <ds:schemaRef ds:uri="a8fa98bc-f420-44dd-88e1-8912e31aef73"/>
    <ds:schemaRef ds:uri="5f174165-9e85-4698-9101-9df70a8b8b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2379</Words>
  <Application>Microsoft Office PowerPoint</Application>
  <PresentationFormat>Widescreen</PresentationFormat>
  <Paragraphs>456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MS Gothic</vt:lpstr>
      <vt:lpstr>Aptos</vt:lpstr>
      <vt:lpstr>Aptos Narrow</vt:lpstr>
      <vt:lpstr>Arial</vt:lpstr>
      <vt:lpstr>Calibri</vt:lpstr>
      <vt:lpstr>Calibri Light</vt:lpstr>
      <vt:lpstr>Helvetica</vt:lpstr>
      <vt:lpstr>Times New Roman</vt:lpstr>
      <vt:lpstr>Office Theme</vt:lpstr>
      <vt:lpstr>Automated and Adaptive Feature Selection for Enhancing Machine Learning Performance on Large and Diverse Datasets</vt:lpstr>
      <vt:lpstr>PowerPoint Presentation</vt:lpstr>
      <vt:lpstr>PowerPoint Presentation</vt:lpstr>
      <vt:lpstr>Table of Content </vt:lpstr>
      <vt:lpstr>Introduction (The Problem)</vt:lpstr>
      <vt:lpstr>Aim, Objectives, Research Questions + Hypothesis</vt:lpstr>
      <vt:lpstr>What is Feature Selection(FS)</vt:lpstr>
      <vt:lpstr>Literature + Gap</vt:lpstr>
      <vt:lpstr>Contribution (What I am building)</vt:lpstr>
      <vt:lpstr>Framework Architecture</vt:lpstr>
      <vt:lpstr>Datasets Overview</vt:lpstr>
      <vt:lpstr>Preprocessing Pipeline</vt:lpstr>
      <vt:lpstr>Meta-Features (Dataset Profiling) </vt:lpstr>
      <vt:lpstr>Heuristic Rules </vt:lpstr>
      <vt:lpstr>Experimental Setup</vt:lpstr>
      <vt:lpstr>Metrics + Statistical Testing</vt:lpstr>
      <vt:lpstr>Results –Predictive Performance </vt:lpstr>
      <vt:lpstr>Results –Runtime and Stability</vt:lpstr>
      <vt:lpstr>Discussion </vt:lpstr>
      <vt:lpstr>Conclusion</vt:lpstr>
      <vt:lpstr>Recommendations and Future Work</vt:lpstr>
      <vt:lpstr>Executive Summary </vt:lpstr>
      <vt:lpstr>References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Lucy Pittard</dc:creator>
  <cp:lastModifiedBy>ADEYEMI ADEKUNLE</cp:lastModifiedBy>
  <cp:revision>14</cp:revision>
  <dcterms:created xsi:type="dcterms:W3CDTF">2023-06-15T10:03:21Z</dcterms:created>
  <dcterms:modified xsi:type="dcterms:W3CDTF">2026-01-20T08:43:13Z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0x0101001E2F4A1C5737404AA29ACCAF4ACF7929</vt:lpwstr>
  </property>
</Properties>
</file>